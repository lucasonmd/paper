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8229600" cy="960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otTopic"/>
          <p:cNvSpPr/>
          <p:nvPr/>
        </p:nvSpPr>
        <p:spPr>
          <a:xfrm>
            <a:off x="1197864" y="2368296"/>
            <a:ext cx="2176272" cy="1527048"/>
          </a:xfrm>
          <a:prstGeom prst="rect">
            <a:avLst/>
          </a:prstGeom>
          <a:solidFill>
            <a:srgbClr val="D9E5F7"/>
          </a:solidFill>
          <a:ln w="25400">
            <a:solidFill>
              <a:srgbClr val="2E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000" b="1">
                <a:solidFill>
                  <a:srgbClr val="12233F"/>
                </a:solidFill>
                <a:latin typeface="Arial"/>
              </a:rPr>
              <a:t>Root Topic</a:t>
            </a:r>
          </a:p>
          <a:p>
            <a:pPr algn="ctr"/>
            <a:r>
              <a:rPr sz="2000" b="1">
                <a:solidFill>
                  <a:srgbClr val="12233F"/>
                </a:solidFill>
                <a:latin typeface="Arial"/>
              </a:rPr>
              <a:t>(Entity)</a:t>
            </a:r>
          </a:p>
          <a:p>
            <a:pPr algn="ctr"/>
            <a:r>
              <a:rPr sz="2000" b="1">
                <a:solidFill>
                  <a:srgbClr val="12233F"/>
                </a:solidFill>
                <a:latin typeface="Arial"/>
              </a:rPr>
              <a:t>A_sourceID</a:t>
            </a:r>
          </a:p>
        </p:txBody>
      </p:sp>
      <p:sp>
        <p:nvSpPr>
          <p:cNvPr id="3" name="PartTopicA"/>
          <p:cNvSpPr/>
          <p:nvPr/>
        </p:nvSpPr>
        <p:spPr>
          <a:xfrm>
            <a:off x="4526280" y="950976"/>
            <a:ext cx="2569464" cy="1005840"/>
          </a:xfrm>
          <a:prstGeom prst="rect">
            <a:avLst/>
          </a:prstGeom>
          <a:solidFill>
            <a:srgbClr val="EAF1FB"/>
          </a:solidFill>
          <a:ln w="25400">
            <a:solidFill>
              <a:srgbClr val="2E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Part Topic A</a:t>
            </a:r>
          </a:p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(mandatory)</a:t>
            </a:r>
          </a:p>
        </p:txBody>
      </p:sp>
      <p:sp>
        <p:nvSpPr>
          <p:cNvPr id="4" name="PartTopicB"/>
          <p:cNvSpPr/>
          <p:nvPr/>
        </p:nvSpPr>
        <p:spPr>
          <a:xfrm>
            <a:off x="4526280" y="2633472"/>
            <a:ext cx="2569464" cy="996696"/>
          </a:xfrm>
          <a:prstGeom prst="rect">
            <a:avLst/>
          </a:prstGeom>
          <a:solidFill>
            <a:srgbClr val="EAF1FB"/>
          </a:solidFill>
          <a:ln w="25400">
            <a:solidFill>
              <a:srgbClr val="2E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Part Topic B</a:t>
            </a:r>
          </a:p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(optional)</a:t>
            </a:r>
          </a:p>
        </p:txBody>
      </p:sp>
      <p:sp>
        <p:nvSpPr>
          <p:cNvPr id="5" name="PartTopicC"/>
          <p:cNvSpPr/>
          <p:nvPr/>
        </p:nvSpPr>
        <p:spPr>
          <a:xfrm>
            <a:off x="4526280" y="4306824"/>
            <a:ext cx="2569464" cy="1005840"/>
          </a:xfrm>
          <a:prstGeom prst="rect">
            <a:avLst/>
          </a:prstGeom>
          <a:solidFill>
            <a:srgbClr val="EAF1FB"/>
          </a:solidFill>
          <a:ln w="25400">
            <a:solidFill>
              <a:srgbClr val="2E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Part Topic C</a:t>
            </a:r>
          </a:p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(collection)</a:t>
            </a:r>
          </a:p>
        </p:txBody>
      </p:sp>
      <p:cxnSp>
        <p:nvCxnSpPr>
          <p:cNvPr id="6" name="ref-mandatory"/>
          <p:cNvCxnSpPr/>
          <p:nvPr/>
        </p:nvCxnSpPr>
        <p:spPr>
          <a:xfrm flipV="1">
            <a:off x="3401568" y="1609344"/>
            <a:ext cx="1097280" cy="1078992"/>
          </a:xfrm>
          <a:prstGeom prst="line">
            <a:avLst/>
          </a:prstGeom>
          <a:ln w="31750">
            <a:solidFill>
              <a:srgbClr val="2E5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f-optional"/>
          <p:cNvCxnSpPr/>
          <p:nvPr/>
        </p:nvCxnSpPr>
        <p:spPr>
          <a:xfrm>
            <a:off x="3401568" y="3127248"/>
            <a:ext cx="1097280" cy="0"/>
          </a:xfrm>
          <a:prstGeom prst="line">
            <a:avLst/>
          </a:prstGeom>
          <a:ln w="31750">
            <a:solidFill>
              <a:srgbClr val="2E5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f-collection"/>
          <p:cNvCxnSpPr/>
          <p:nvPr/>
        </p:nvCxnSpPr>
        <p:spPr>
          <a:xfrm>
            <a:off x="3401568" y="3566160"/>
            <a:ext cx="1097280" cy="1115568"/>
          </a:xfrm>
          <a:prstGeom prst="line">
            <a:avLst/>
          </a:prstGeom>
          <a:ln w="31750">
            <a:solidFill>
              <a:srgbClr val="2E5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ult-1"/>
          <p:cNvSpPr txBox="1"/>
          <p:nvPr/>
        </p:nvSpPr>
        <p:spPr>
          <a:xfrm>
            <a:off x="3493008" y="1810512"/>
            <a:ext cx="548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12233F"/>
                </a:solidFill>
                <a:latin typeface="Arial"/>
              </a:rPr>
              <a:t>1</a:t>
            </a:r>
          </a:p>
        </p:txBody>
      </p:sp>
      <p:sp>
        <p:nvSpPr>
          <p:cNvPr id="10" name="mult-0..1"/>
          <p:cNvSpPr txBox="1"/>
          <p:nvPr/>
        </p:nvSpPr>
        <p:spPr>
          <a:xfrm>
            <a:off x="3639312" y="2761488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12233F"/>
                </a:solidFill>
                <a:latin typeface="Arial"/>
              </a:rPr>
              <a:t>0..1</a:t>
            </a:r>
          </a:p>
        </p:txBody>
      </p:sp>
      <p:sp>
        <p:nvSpPr>
          <p:cNvPr id="11" name="mult-0..star"/>
          <p:cNvSpPr txBox="1"/>
          <p:nvPr/>
        </p:nvSpPr>
        <p:spPr>
          <a:xfrm>
            <a:off x="3456432" y="4197096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12233F"/>
                </a:solidFill>
                <a:latin typeface="Arial"/>
              </a:rPr>
              <a:t>0..*</a:t>
            </a:r>
          </a:p>
        </p:txBody>
      </p:sp>
      <p:sp>
        <p:nvSpPr>
          <p:cNvPr id="12" name="reverse-ref"/>
          <p:cNvSpPr/>
          <p:nvPr/>
        </p:nvSpPr>
        <p:spPr>
          <a:xfrm>
            <a:off x="2889504" y="1353312"/>
            <a:ext cx="1627632" cy="877824"/>
          </a:xfrm>
          <a:custGeom>
            <a:avLst/>
            <a:gdLst/>
            <a:ahLst/>
            <a:cxnLst/>
            <a:rect l="l" t="t" r="r" b="b"/>
            <a:pathLst>
              <a:path w="1627632" h="877824">
                <a:moveTo>
                  <a:pt x="1627632" y="0"/>
                </a:moveTo>
                <a:lnTo>
                  <a:pt x="1426464" y="274320"/>
                </a:lnTo>
                <a:lnTo>
                  <a:pt x="1197864" y="493776"/>
                </a:lnTo>
                <a:lnTo>
                  <a:pt x="987552" y="621792"/>
                </a:lnTo>
                <a:lnTo>
                  <a:pt x="740664" y="713231"/>
                </a:lnTo>
                <a:lnTo>
                  <a:pt x="512064" y="804672"/>
                </a:lnTo>
                <a:lnTo>
                  <a:pt x="237744" y="877824"/>
                </a:lnTo>
                <a:lnTo>
                  <a:pt x="0" y="850392"/>
                </a:lnTo>
              </a:path>
            </a:pathLst>
          </a:custGeom>
          <a:noFill/>
          <a:ln w="31750">
            <a:solidFill>
              <a:srgbClr val="A8BEDD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erse-ref-label"/>
          <p:cNvSpPr txBox="1"/>
          <p:nvPr/>
        </p:nvSpPr>
        <p:spPr>
          <a:xfrm>
            <a:off x="2670048" y="1005840"/>
            <a:ext cx="173736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6788F"/>
                </a:solidFill>
                <a:latin typeface="Arial"/>
              </a:rPr>
              <a:t>A_root_sourceID</a:t>
            </a:r>
          </a:p>
        </p:txBody>
      </p:sp>
      <p:sp>
        <p:nvSpPr>
          <p:cNvPr id="14" name="legend-solid"/>
          <p:cNvSpPr txBox="1"/>
          <p:nvPr/>
        </p:nvSpPr>
        <p:spPr>
          <a:xfrm>
            <a:off x="804672" y="5394960"/>
            <a:ext cx="38404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6788F"/>
                </a:solidFill>
                <a:latin typeface="Arial"/>
              </a:rPr>
              <a:t>solid: forward reference (multiplicity)</a:t>
            </a:r>
          </a:p>
        </p:txBody>
      </p:sp>
      <p:sp>
        <p:nvSpPr>
          <p:cNvPr id="15" name="legend-dashed"/>
          <p:cNvSpPr txBox="1"/>
          <p:nvPr/>
        </p:nvSpPr>
        <p:spPr>
          <a:xfrm>
            <a:off x="4736592" y="5394960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6788F"/>
                </a:solidFill>
                <a:latin typeface="Arial"/>
              </a:rPr>
              <a:t>dashed: reverse reference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384048" y="5943600"/>
            <a:ext cx="746150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2233F"/>
                </a:solidFill>
                <a:latin typeface="Arial"/>
              </a:rPr>
              <a:t>Fig. 1. An aggregate of topics linked by sourceID references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0-upsert"/>
          <p:cNvSpPr/>
          <p:nvPr/>
        </p:nvSpPr>
        <p:spPr>
          <a:xfrm>
            <a:off x="978408" y="786384"/>
            <a:ext cx="5394960" cy="941832"/>
          </a:xfrm>
          <a:prstGeom prst="rect">
            <a:avLst/>
          </a:prstGeom>
          <a:solidFill>
            <a:srgbClr val="D9E5F7"/>
          </a:solidFill>
          <a:ln w="25400">
            <a:solidFill>
              <a:srgbClr val="2E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000" b="1">
                <a:solidFill>
                  <a:srgbClr val="12233F"/>
                </a:solidFill>
                <a:latin typeface="Arial"/>
              </a:rPr>
              <a:t>Upsert(kind, topic)</a:t>
            </a:r>
          </a:p>
        </p:txBody>
      </p:sp>
      <p:sp>
        <p:nvSpPr>
          <p:cNvPr id="3" name="step1-store"/>
          <p:cNvSpPr/>
          <p:nvPr/>
        </p:nvSpPr>
        <p:spPr>
          <a:xfrm>
            <a:off x="978408" y="2103120"/>
            <a:ext cx="5394960" cy="950976"/>
          </a:xfrm>
          <a:prstGeom prst="rect">
            <a:avLst/>
          </a:prstGeom>
          <a:solidFill>
            <a:srgbClr val="EAF1FB"/>
          </a:solidFill>
          <a:ln w="25400">
            <a:solidFill>
              <a:srgbClr val="2E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Store topic /</a:t>
            </a:r>
          </a:p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update Forward &amp; Reverse indexes</a:t>
            </a:r>
          </a:p>
        </p:txBody>
      </p:sp>
      <p:sp>
        <p:nvSpPr>
          <p:cNvPr id="4" name="step2-impacted"/>
          <p:cNvSpPr/>
          <p:nvPr/>
        </p:nvSpPr>
        <p:spPr>
          <a:xfrm>
            <a:off x="978408" y="3419856"/>
            <a:ext cx="5394960" cy="950976"/>
          </a:xfrm>
          <a:prstGeom prst="rect">
            <a:avLst/>
          </a:prstGeom>
          <a:solidFill>
            <a:srgbClr val="EAF1FB"/>
          </a:solidFill>
          <a:ln w="25400">
            <a:solidFill>
              <a:srgbClr val="2E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Find impacted roots</a:t>
            </a:r>
          </a:p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(bidirectional BFS)</a:t>
            </a:r>
          </a:p>
        </p:txBody>
      </p:sp>
      <p:sp>
        <p:nvSpPr>
          <p:cNvPr id="5" name="step3-assemble"/>
          <p:cNvSpPr/>
          <p:nvPr/>
        </p:nvSpPr>
        <p:spPr>
          <a:xfrm>
            <a:off x="978408" y="4745736"/>
            <a:ext cx="5394960" cy="950976"/>
          </a:xfrm>
          <a:prstGeom prst="rect">
            <a:avLst/>
          </a:prstGeom>
          <a:solidFill>
            <a:srgbClr val="EAF1FB"/>
          </a:solidFill>
          <a:ln w="25400">
            <a:solidFill>
              <a:srgbClr val="2E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Assemble snapshot per root</a:t>
            </a:r>
          </a:p>
        </p:txBody>
      </p:sp>
      <p:sp>
        <p:nvSpPr>
          <p:cNvPr id="6" name="step4-completeness"/>
          <p:cNvSpPr/>
          <p:nvPr/>
        </p:nvSpPr>
        <p:spPr>
          <a:xfrm>
            <a:off x="978408" y="6062472"/>
            <a:ext cx="5394960" cy="950976"/>
          </a:xfrm>
          <a:prstGeom prst="rect">
            <a:avLst/>
          </a:prstGeom>
          <a:solidFill>
            <a:srgbClr val="EAF1FB"/>
          </a:solidFill>
          <a:ln w="25400">
            <a:solidFill>
              <a:srgbClr val="2E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Completeness check</a:t>
            </a:r>
          </a:p>
          <a:p>
            <a:pPr algn="ctr"/>
            <a:r>
              <a:rPr sz="1900" b="0">
                <a:solidFill>
                  <a:srgbClr val="12233F"/>
                </a:solidFill>
                <a:latin typeface="Arial"/>
              </a:rPr>
              <a:t>(multiplicity + reciprocity)</a:t>
            </a:r>
          </a:p>
        </p:txBody>
      </p:sp>
      <p:sp>
        <p:nvSpPr>
          <p:cNvPr id="7" name="step5-notify"/>
          <p:cNvSpPr/>
          <p:nvPr/>
        </p:nvSpPr>
        <p:spPr>
          <a:xfrm>
            <a:off x="978408" y="7552944"/>
            <a:ext cx="5394960" cy="941832"/>
          </a:xfrm>
          <a:prstGeom prst="rect">
            <a:avLst/>
          </a:prstGeom>
          <a:solidFill>
            <a:srgbClr val="D9F0DF"/>
          </a:solidFill>
          <a:ln w="254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000" b="1">
                <a:solidFill>
                  <a:srgbClr val="12233F"/>
                </a:solidFill>
                <a:latin typeface="Arial"/>
              </a:rPr>
              <a:t>Notify subscribers</a:t>
            </a:r>
          </a:p>
          <a:p>
            <a:pPr algn="ctr"/>
            <a:r>
              <a:rPr sz="2000" b="1">
                <a:solidFill>
                  <a:srgbClr val="12233F"/>
                </a:solidFill>
                <a:latin typeface="Arial"/>
              </a:rPr>
              <a:t>(OnAggregate / root-kind handlers)</a:t>
            </a:r>
          </a:p>
        </p:txBody>
      </p:sp>
      <p:cxnSp>
        <p:nvCxnSpPr>
          <p:cNvPr id="8" name="flow-0-1"/>
          <p:cNvCxnSpPr/>
          <p:nvPr/>
        </p:nvCxnSpPr>
        <p:spPr>
          <a:xfrm>
            <a:off x="3675888" y="1728216"/>
            <a:ext cx="0" cy="365760"/>
          </a:xfrm>
          <a:prstGeom prst="line">
            <a:avLst/>
          </a:prstGeom>
          <a:ln w="31750">
            <a:solidFill>
              <a:srgbClr val="2E5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1-2"/>
          <p:cNvCxnSpPr/>
          <p:nvPr/>
        </p:nvCxnSpPr>
        <p:spPr>
          <a:xfrm>
            <a:off x="3675888" y="3054096"/>
            <a:ext cx="0" cy="356616"/>
          </a:xfrm>
          <a:prstGeom prst="line">
            <a:avLst/>
          </a:prstGeom>
          <a:ln w="31750">
            <a:solidFill>
              <a:srgbClr val="2E5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2-3"/>
          <p:cNvCxnSpPr/>
          <p:nvPr/>
        </p:nvCxnSpPr>
        <p:spPr>
          <a:xfrm>
            <a:off x="3675888" y="4370832"/>
            <a:ext cx="0" cy="365760"/>
          </a:xfrm>
          <a:prstGeom prst="line">
            <a:avLst/>
          </a:prstGeom>
          <a:ln w="31750">
            <a:solidFill>
              <a:srgbClr val="2E5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3-4"/>
          <p:cNvCxnSpPr/>
          <p:nvPr/>
        </p:nvCxnSpPr>
        <p:spPr>
          <a:xfrm>
            <a:off x="3675888" y="5696712"/>
            <a:ext cx="0" cy="356616"/>
          </a:xfrm>
          <a:prstGeom prst="line">
            <a:avLst/>
          </a:prstGeom>
          <a:ln w="31750">
            <a:solidFill>
              <a:srgbClr val="2E5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low-complete"/>
          <p:cNvCxnSpPr/>
          <p:nvPr/>
        </p:nvCxnSpPr>
        <p:spPr>
          <a:xfrm>
            <a:off x="3675888" y="7022592"/>
            <a:ext cx="0" cy="512064"/>
          </a:xfrm>
          <a:prstGeom prst="line">
            <a:avLst/>
          </a:prstGeom>
          <a:ln w="38100">
            <a:solidFill>
              <a:srgbClr val="2E5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abel-complete"/>
          <p:cNvSpPr txBox="1"/>
          <p:nvPr/>
        </p:nvSpPr>
        <p:spPr>
          <a:xfrm>
            <a:off x="3785616" y="7159752"/>
            <a:ext cx="128016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E5AA8"/>
                </a:solidFill>
                <a:latin typeface="Arial"/>
              </a:rPr>
              <a:t>complete</a:t>
            </a:r>
          </a:p>
        </p:txBody>
      </p:sp>
      <p:sp>
        <p:nvSpPr>
          <p:cNvPr id="14" name="hold-branch"/>
          <p:cNvSpPr/>
          <p:nvPr/>
        </p:nvSpPr>
        <p:spPr>
          <a:xfrm>
            <a:off x="6520815" y="5888736"/>
            <a:ext cx="1243584" cy="1316736"/>
          </a:xfrm>
          <a:prstGeom prst="rect">
            <a:avLst/>
          </a:prstGeom>
          <a:solidFill>
            <a:srgbClr val="f6f6f6"/>
          </a:solidFill>
          <a:ln w="19050">
            <a:solidFill>
              <a:srgbClr val="9aa6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r>
              <a:rPr sz="1500">
                <a:solidFill>
                  <a:srgbClr val="12233f"/>
                </a:solidFill>
                <a:latin typeface="Arial"/>
              </a:rPr>
              <a:t>hold</a:t>
            </a:r>
            <a:endParaRPr sz="1500">
              <a:solidFill>
                <a:srgbClr val="12233f"/>
              </a:solidFill>
              <a:latin typeface="Arial"/>
            </a:endParaRPr>
          </a:p>
          <a:p>
            <a:pPr lvl="0" algn="ctr">
              <a:defRPr/>
            </a:pPr>
            <a:r>
              <a:rPr sz="1500">
                <a:solidFill>
                  <a:srgbClr val="12233f"/>
                </a:solidFill>
                <a:latin typeface="Arial"/>
              </a:rPr>
              <a:t>(wait)</a:t>
            </a:r>
            <a:endParaRPr sz="1500">
              <a:solidFill>
                <a:srgbClr val="12233f"/>
              </a:solidFill>
              <a:latin typeface="Arial"/>
            </a:endParaRPr>
          </a:p>
        </p:txBody>
      </p:sp>
      <p:cxnSp>
        <p:nvCxnSpPr>
          <p:cNvPr id="15" name="flow-incomplete"/>
          <p:cNvCxnSpPr/>
          <p:nvPr/>
        </p:nvCxnSpPr>
        <p:spPr>
          <a:xfrm>
            <a:off x="6387846" y="6501384"/>
            <a:ext cx="347472" cy="0"/>
          </a:xfrm>
          <a:prstGeom prst="line">
            <a:avLst/>
          </a:prstGeom>
          <a:ln w="25400">
            <a:solidFill>
              <a:srgbClr val="9aa6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abel-incomplete"/>
          <p:cNvSpPr txBox="1"/>
          <p:nvPr/>
        </p:nvSpPr>
        <p:spPr>
          <a:xfrm>
            <a:off x="6723507" y="5952744"/>
            <a:ext cx="11887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66788f"/>
                </a:solidFill>
                <a:latin typeface="Arial"/>
              </a:rPr>
              <a:t>incomplete</a:t>
            </a:r>
            <a:endParaRPr sz="1400" b="0">
              <a:solidFill>
                <a:srgbClr val="66788f"/>
              </a:solidFill>
              <a:latin typeface="Arial"/>
            </a:endParaRPr>
          </a:p>
        </p:txBody>
      </p:sp>
      <p:sp>
        <p:nvSpPr>
          <p:cNvPr id="17" name="caption"/>
          <p:cNvSpPr txBox="1"/>
          <p:nvPr/>
        </p:nvSpPr>
        <p:spPr>
          <a:xfrm>
            <a:off x="384048" y="8732520"/>
            <a:ext cx="746150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2233F"/>
                </a:solidFill>
                <a:latin typeface="Arial"/>
              </a:rPr>
              <a:t>Fig. 2. Processing pipeline of the proposed aggregation engine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70</ep:Words>
  <ep:PresentationFormat>On-screen Show (4:3)</ep:PresentationFormat>
  <ep:Paragraphs>32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Office Theme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kalvg</cp:lastModifiedBy>
  <dcterms:modified xsi:type="dcterms:W3CDTF">2026-08-18T02:29:44.643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